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75" r:id="rId5"/>
    <p:sldId id="262" r:id="rId6"/>
    <p:sldId id="264" r:id="rId7"/>
    <p:sldId id="265" r:id="rId8"/>
    <p:sldId id="267" r:id="rId9"/>
    <p:sldId id="284" r:id="rId10"/>
    <p:sldId id="285" r:id="rId11"/>
    <p:sldId id="277" r:id="rId12"/>
    <p:sldId id="279" r:id="rId13"/>
    <p:sldId id="287" r:id="rId14"/>
    <p:sldId id="282" r:id="rId15"/>
    <p:sldId id="283" r:id="rId16"/>
    <p:sldId id="288" r:id="rId17"/>
    <p:sldId id="286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0203"/>
    <a:srgbClr val="D672E6"/>
    <a:srgbClr val="009CFF"/>
    <a:srgbClr val="BB654E"/>
    <a:srgbClr val="78D284"/>
    <a:srgbClr val="FFD600"/>
    <a:srgbClr val="B97865"/>
    <a:srgbClr val="4EFF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84"/>
    <p:restoredTop sz="94610"/>
  </p:normalViewPr>
  <p:slideViewPr>
    <p:cSldViewPr snapToGrid="0" snapToObjects="1">
      <p:cViewPr>
        <p:scale>
          <a:sx n="140" d="100"/>
          <a:sy n="140" d="100"/>
        </p:scale>
        <p:origin x="148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KLD</c:v>
                </c:pt>
              </c:strCache>
            </c:strRef>
          </c:tx>
          <c:spPr>
            <a:solidFill>
              <a:srgbClr val="185FA5">
                <a:alpha val="9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85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3A2-3743-B501-51797821C016}"/>
              </c:ext>
            </c:extLst>
          </c:dPt>
          <c:dPt>
            <c:idx val="1"/>
            <c:invertIfNegative val="0"/>
            <c:bubble3D val="0"/>
            <c:spPr>
              <a:solidFill>
                <a:srgbClr val="CC00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A2-3743-B501-51797821C016}"/>
              </c:ext>
            </c:extLst>
          </c:dPt>
          <c:dPt>
            <c:idx val="2"/>
            <c:invertIfNegative val="0"/>
            <c:bubble3D val="0"/>
            <c:spPr>
              <a:solidFill>
                <a:srgbClr val="A061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A2-3743-B501-51797821C01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0.220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3A2-3743-B501-51797821C0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0.375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3A2-3743-B501-51797821C016}"/>
                </c:ext>
              </c:extLst>
            </c:dLbl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F1F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VIPEEGNet</c:v>
                </c:pt>
                <c:pt idx="1">
                  <c:v>TCS-Net (ours)</c:v>
                </c:pt>
                <c:pt idx="2">
                  <c:v>EfficientNetB0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0.22700000000000001</c:v>
                </c:pt>
                <c:pt idx="1">
                  <c:v>0.38</c:v>
                </c:pt>
                <c:pt idx="2">
                  <c:v>0.67300000000000004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A2-3743-B501-51797821C0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F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958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0C285-8CD0-31CC-4A99-274F585D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CD0BF-5C89-9E56-3189-17ADEE2D2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80FC1-8D4E-247F-8170-534F7637A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57136-C117-57BD-90B4-0DF09A58E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8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3054E-D51D-6CE6-C7BD-9FFC1531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9FB13-FB41-CD7A-7462-1DB51929B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CF934-090D-8CCE-1519-3A49A5BCD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2D979-8E1C-944F-3442-F65420816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56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0232-31E4-0855-0FA6-1900CF849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AFAA4-0D01-D9CB-E59D-AB92A4635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591C3-20BC-5967-B881-3C1BB8709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E6D91-FC68-6E4A-3293-F940F33F7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CE25D-E4E6-5E6D-A2A1-D64C04EB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B5516-6FC5-1749-DC0F-FE0E2C83B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24ABE-01B6-70F5-FE66-DECDA555B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3C34C-4120-0A68-9940-486B3F8ADD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21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C2AB-FAAB-85B9-952F-469A1351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24BD1-091F-1D76-B0BE-AF1A5F33D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30064-9068-7E3E-8B8D-B0242F368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E6DF1-1E5C-E421-ACDA-74A141CA5C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51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C8AB2-86AC-9BFE-E701-88CBB599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352E4-55B1-42F3-1F87-D76B25A65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B616C-5AB1-E115-4598-8D8072F52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133B7-6F7C-8655-3D0D-7ADBC4EAA8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22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02D1F-33FC-E378-4CD7-CB8069E0F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2D9D3-E06C-AC89-BDE2-1BF7FE313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18755-1BE3-BA8E-009D-DFA9689FE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D0F86-8388-DD1F-1088-5C8632DB3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43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7A3A-FE89-F789-1837-4F6B87035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6D3EF-1477-71D2-7C1A-D77120DA8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E571B-645B-6C7F-6C13-123B8BB65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C7D60-817F-08B2-91C9-80E3D50C2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897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61E8-A101-C31D-7DC5-6FE69981F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F8284-5018-A24F-5226-7D970B7E4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D4DE4-E58D-6E33-C57D-BF27690D7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FB7FD-4103-C57A-38AE-677AE3E48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674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004E8-A5FA-157C-C491-C75BFB4E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3914B-9CEF-20CE-72CA-98769CC71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D74AB-70A0-A7ED-F10C-21205E6CC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1B727-0692-F074-AE02-1CAB55E5B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63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hms-harmful-brain-activity-classification/dat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C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EEG Screening for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and Informed Critical Care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97280" y="2926080"/>
            <a:ext cx="69494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TCS-Net  ·  Methodology, Results &amp; Comparative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Project - Final Presentation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Gagandeep Singh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8781F4-C6B2-0325-922D-32CE53ED6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9283"/>
            <a:ext cx="2070012" cy="675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315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24815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automated system to detect and classify seizures and other harmful brain activity patterns from EEG recordings of critically ill patients.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35124"/>
            <a:ext cx="4023360" cy="2194560"/>
          </a:xfrm>
          <a:prstGeom prst="rect">
            <a:avLst/>
          </a:prstGeom>
          <a:solidFill>
            <a:srgbClr val="F4F4F4"/>
          </a:solidFill>
          <a:ln w="635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24475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638044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review is manual and requires specialized neurologists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genuinely disagree on borderline cases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 — must capture uncertainty, not force a single answer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135124"/>
            <a:ext cx="4023360" cy="2194560"/>
          </a:xfrm>
          <a:prstGeom prst="rect">
            <a:avLst/>
          </a:prstGeom>
          <a:solidFill>
            <a:srgbClr val="F4F4F4"/>
          </a:solidFill>
          <a:ln w="635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0600" y="22539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automated tool helps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628900"/>
            <a:ext cx="3657600" cy="12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for all 6 patterns simultaneously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insights → timely ICU intervention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results across reviewers and shifts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uncertainty when experts genuinely disagree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700BBEA-63CE-7786-A707-BCE554AD4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TCS-Net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93076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Cross Spectrogram Network — raw EEG and dual spectrograms fused via cross-modal attention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" y="2673839"/>
            <a:ext cx="3263951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115" y="2673839"/>
            <a:ext cx="91440" cy="20116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715" y="2810999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Attention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715" y="3405359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attention between raw-EEG temporal tokens and spectrogram patches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00755" y="2673839"/>
            <a:ext cx="26974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00755" y="2673839"/>
            <a:ext cx="91440" cy="20116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9355" y="2810999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Band Gate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9355" y="3405359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context gates spectrogram features across delta / theta / alpha / beta — exploits known neuroscience. 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43955" y="2673839"/>
            <a:ext cx="26974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03438" y="2673839"/>
            <a:ext cx="91440" cy="20116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63995" y="2810999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63995" y="3405359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post-hoc calibration. 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115" y="1396355"/>
            <a:ext cx="8275320" cy="1097280"/>
          </a:xfrm>
          <a:prstGeom prst="rect">
            <a:avLst/>
          </a:prstGeom>
          <a:solidFill>
            <a:srgbClr val="F4F4F4"/>
          </a:solidFill>
          <a:ln w="635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715" y="1493301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Intuition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715" y="179451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+mj-lt"/>
                <a:ea typeface="Calibri" pitchFamily="34" charset="-122"/>
                <a:cs typeface="Calibri" pitchFamily="34" charset="-120"/>
              </a:rPr>
              <a:t>Most of the solution processes EEG and spectrograms independently and concatenates the features. None uses cross-modal attention. TCS-Net's hypothesis: letting the two modalities query each other improves discrimination on patterns that require correlating spatial EEG with frequency content (Spectrograms).</a:t>
            </a:r>
            <a:endParaRPr lang="en-US" sz="1200" dirty="0">
              <a:latin typeface="+mj-l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388ADFD-8053-94D2-7EE3-97F61605E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85DF2-4D51-49FC-5B86-323F1FA63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1CCB09-94E7-CEEA-5C50-AF240537BAE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7E1B6A-6729-B5C6-72A8-26AB41F893CE}"/>
              </a:ext>
            </a:extLst>
          </p:cNvPr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TCS-Net Architecture (29.6M parameters)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E5763FF-BECF-AE6C-6C98-900E8FCB818B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08CB42-5BEF-662C-73AB-A7148356493E}"/>
              </a:ext>
            </a:extLst>
          </p:cNvPr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2EDD62-6433-D50C-B859-AF9F63F25DD7}"/>
              </a:ext>
            </a:extLst>
          </p:cNvPr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90BF44-F20F-DD1B-AD45-3158F6BDA955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DB537AE-59F2-A8A2-7E76-7F1444125E3A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2BD8D75-18E1-9C10-3316-928552C5499F}"/>
              </a:ext>
            </a:extLst>
          </p:cNvPr>
          <p:cNvSpPr/>
          <p:nvPr/>
        </p:nvSpPr>
        <p:spPr>
          <a:xfrm>
            <a:off x="640080" y="960120"/>
            <a:ext cx="32676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18463C4-096C-B06A-14E3-5C40E247D5F8}"/>
              </a:ext>
            </a:extLst>
          </p:cNvPr>
          <p:cNvSpPr/>
          <p:nvPr/>
        </p:nvSpPr>
        <p:spPr>
          <a:xfrm>
            <a:off x="521208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46FE021-EB52-495B-47AA-E7852629D97D}"/>
              </a:ext>
            </a:extLst>
          </p:cNvPr>
          <p:cNvSpPr/>
          <p:nvPr/>
        </p:nvSpPr>
        <p:spPr>
          <a:xfrm>
            <a:off x="658368" y="199339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F1B20E6-7AE9-D987-EA87-1ABC8E51B470}"/>
              </a:ext>
            </a:extLst>
          </p:cNvPr>
          <p:cNvSpPr/>
          <p:nvPr/>
        </p:nvSpPr>
        <p:spPr>
          <a:xfrm>
            <a:off x="2836978" y="4132795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95FF210-B3A7-EAE1-04B2-46DA88931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342F31F-D725-DEEB-5181-97DCFB47D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446" y="822960"/>
            <a:ext cx="7051509" cy="396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5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Token Attention: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4617720" cy="3337560"/>
          </a:xfrm>
          <a:prstGeom prst="rect">
            <a:avLst/>
          </a:prstGeom>
          <a:solidFill>
            <a:srgbClr val="F4F4F4"/>
          </a:solidFill>
          <a:ln w="635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temporal tokens  ·  50 total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691640"/>
            <a:ext cx="713232" cy="3657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6916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t=0-10s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44168" y="1691640"/>
            <a:ext cx="713232" cy="3657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44168" y="16916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t=10-20s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85416" y="1691640"/>
            <a:ext cx="713232" cy="365760"/>
          </a:xfrm>
          <a:prstGeom prst="rect">
            <a:avLst/>
          </a:prstGeom>
          <a:solidFill>
            <a:srgbClr val="185FA5"/>
          </a:solidFill>
          <a:ln w="317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85416" y="16916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t=20-30s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26664" y="1691640"/>
            <a:ext cx="713232" cy="3657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26664" y="16916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t=30-40s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67912" y="1691640"/>
            <a:ext cx="713232" cy="3657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67912" y="16916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t=40-50s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flipH="1">
            <a:off x="1659675" y="2048959"/>
            <a:ext cx="888297" cy="1480625"/>
          </a:xfrm>
          <a:prstGeom prst="line">
            <a:avLst/>
          </a:prstGeom>
          <a:noFill/>
          <a:ln w="889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42032" y="2057400"/>
            <a:ext cx="0" cy="146304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42032" y="2057400"/>
            <a:ext cx="0" cy="1463040"/>
          </a:xfrm>
          <a:prstGeom prst="line">
            <a:avLst/>
          </a:prstGeom>
          <a:noFill/>
          <a:ln w="1778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23744" y="2048959"/>
            <a:ext cx="841248" cy="1463040"/>
          </a:xfrm>
          <a:prstGeom prst="line">
            <a:avLst/>
          </a:prstGeom>
          <a:noFill/>
          <a:ln w="3556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42032" y="2057400"/>
            <a:ext cx="1682496" cy="146304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9536" y="2057400"/>
            <a:ext cx="2523744" cy="1463040"/>
          </a:xfrm>
          <a:prstGeom prst="line">
            <a:avLst/>
          </a:prstGeom>
          <a:noFill/>
          <a:ln w="8890">
            <a:solidFill>
              <a:srgbClr val="A0612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700784" y="2057400"/>
            <a:ext cx="1682496" cy="1463040"/>
          </a:xfrm>
          <a:prstGeom prst="line">
            <a:avLst/>
          </a:prstGeom>
          <a:noFill/>
          <a:ln w="15240">
            <a:solidFill>
              <a:srgbClr val="A0612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1416" y="2058182"/>
            <a:ext cx="841248" cy="1463040"/>
          </a:xfrm>
          <a:prstGeom prst="line">
            <a:avLst/>
          </a:prstGeom>
          <a:noFill/>
          <a:ln w="31750">
            <a:solidFill>
              <a:srgbClr val="A0612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64992" y="2048959"/>
            <a:ext cx="0" cy="1463040"/>
          </a:xfrm>
          <a:prstGeom prst="line">
            <a:avLst/>
          </a:prstGeom>
          <a:noFill/>
          <a:ln w="19050">
            <a:solidFill>
              <a:srgbClr val="A0612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H="1">
            <a:off x="3378436" y="2084050"/>
            <a:ext cx="859536" cy="1426464"/>
          </a:xfrm>
          <a:prstGeom prst="line">
            <a:avLst/>
          </a:prstGeom>
          <a:noFill/>
          <a:ln w="8890">
            <a:solidFill>
              <a:srgbClr val="A0612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" y="3520440"/>
            <a:ext cx="713232" cy="365760"/>
          </a:xfrm>
          <a:prstGeom prst="rect">
            <a:avLst/>
          </a:prstGeom>
          <a:solidFill>
            <a:srgbClr val="F5E8D8"/>
          </a:solidFill>
          <a:ln w="12700">
            <a:solidFill>
              <a:srgbClr val="A0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5204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344168" y="3520440"/>
            <a:ext cx="713232" cy="365760"/>
          </a:xfrm>
          <a:prstGeom prst="rect">
            <a:avLst/>
          </a:prstGeom>
          <a:solidFill>
            <a:srgbClr val="F5E8D8"/>
          </a:solidFill>
          <a:ln w="12700">
            <a:solidFill>
              <a:srgbClr val="A0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44168" y="35204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85416" y="3520440"/>
            <a:ext cx="713232" cy="365760"/>
          </a:xfrm>
          <a:prstGeom prst="rect">
            <a:avLst/>
          </a:prstGeom>
          <a:solidFill>
            <a:srgbClr val="F5E8D8"/>
          </a:solidFill>
          <a:ln w="12700">
            <a:solidFill>
              <a:srgbClr val="A0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85416" y="35204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26664" y="3520440"/>
            <a:ext cx="713232" cy="365760"/>
          </a:xfrm>
          <a:prstGeom prst="rect">
            <a:avLst/>
          </a:prstGeom>
          <a:solidFill>
            <a:srgbClr val="A0612A"/>
          </a:solidFill>
          <a:ln w="31750">
            <a:solidFill>
              <a:srgbClr val="A0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026664" y="35204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67912" y="3520440"/>
            <a:ext cx="713232" cy="365760"/>
          </a:xfrm>
          <a:prstGeom prst="rect">
            <a:avLst/>
          </a:prstGeom>
          <a:solidFill>
            <a:srgbClr val="F5E8D8"/>
          </a:solidFill>
          <a:ln w="12700">
            <a:solidFill>
              <a:srgbClr val="A0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67912" y="35204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39319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frequency-band patches  ·  32 total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4288536"/>
            <a:ext cx="201168" cy="0"/>
          </a:xfrm>
          <a:prstGeom prst="line">
            <a:avLst/>
          </a:prstGeom>
          <a:noFill/>
          <a:ln w="317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9808" y="4197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→ Spec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194560" y="4288536"/>
            <a:ext cx="201168" cy="0"/>
          </a:xfrm>
          <a:prstGeom prst="line">
            <a:avLst/>
          </a:prstGeom>
          <a:noFill/>
          <a:ln w="31750">
            <a:solidFill>
              <a:srgbClr val="A0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441448" y="4197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EEG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" y="44165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thickness = attention weight  ·  highlighted box = querying token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66360" y="1335024"/>
            <a:ext cx="411480" cy="411480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66360" y="1335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669280" y="1298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encoder produces tokens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669280" y="16093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→ 50 temporal tokens (~1s each); spec → 32 frequency-band patches.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66360" y="2176272"/>
            <a:ext cx="411480" cy="411480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6636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669280" y="21396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asks the spectrogram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669280" y="2450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EEG token: "what frequencies are active at my time position?"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166360" y="3017520"/>
            <a:ext cx="411480" cy="411480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1663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669280" y="29809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asks the EEG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66928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 patch: "what waveform shape produces this frequency?"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166360" y="3858768"/>
            <a:ext cx="411480" cy="411480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166360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669280" y="38221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2 layers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669280" y="4133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refines because both sides now have partial cross-modal context.</a:t>
            </a:r>
            <a:endParaRPr lang="en-US" sz="1000" dirty="0"/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33105136-88D5-6DE4-0BCB-F2E8F231ACA1}"/>
              </a:ext>
            </a:extLst>
          </p:cNvPr>
          <p:cNvSpPr/>
          <p:nvPr/>
        </p:nvSpPr>
        <p:spPr>
          <a:xfrm>
            <a:off x="2542032" y="2057400"/>
            <a:ext cx="0" cy="1463040"/>
          </a:xfrm>
          <a:prstGeom prst="line">
            <a:avLst/>
          </a:prstGeom>
          <a:noFill/>
          <a:ln w="1778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22">
            <a:extLst>
              <a:ext uri="{FF2B5EF4-FFF2-40B4-BE49-F238E27FC236}">
                <a16:creationId xmlns:a16="http://schemas.microsoft.com/office/drawing/2014/main" id="{50D1085A-363B-70BE-1FB3-F1E9B119DD31}"/>
              </a:ext>
            </a:extLst>
          </p:cNvPr>
          <p:cNvSpPr/>
          <p:nvPr/>
        </p:nvSpPr>
        <p:spPr>
          <a:xfrm flipH="1">
            <a:off x="865475" y="2075688"/>
            <a:ext cx="1649127" cy="1444752"/>
          </a:xfrm>
          <a:prstGeom prst="line">
            <a:avLst/>
          </a:prstGeom>
          <a:noFill/>
          <a:ln w="1778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two detectives comparing notes during the investigation.</a:t>
            </a:r>
            <a:endParaRPr lang="en-US" sz="1300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3A9C5BDC-4728-B2F7-D588-FC676661F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Medical School / Massachusetts General Hospital — public via Kaggle </a:t>
            </a: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here</a:t>
            </a: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(HMS, 2024)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2697480" cy="1188720"/>
          </a:xfrm>
          <a:prstGeom prst="rect">
            <a:avLst/>
          </a:prstGeom>
          <a:solidFill>
            <a:srgbClr val="F4F4F4"/>
          </a:solidFill>
          <a:ln w="635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627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9436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age, near-balanced sex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697480" cy="1188720"/>
          </a:xfrm>
          <a:prstGeom prst="rect">
            <a:avLst/>
          </a:prstGeom>
          <a:solidFill>
            <a:srgbClr val="F4F4F4"/>
          </a:solidFill>
          <a:ln w="635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EEGs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1627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17,089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2900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Hz, 19 electrodes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2697480" cy="1188720"/>
          </a:xfrm>
          <a:prstGeom prst="rect">
            <a:avLst/>
          </a:prstGeom>
          <a:solidFill>
            <a:srgbClr val="F4F4F4"/>
          </a:solidFill>
          <a:ln w="635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segments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627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106,800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6364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expert-annotated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classes — multi-expert vote distribution (~12 experts per recording)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8229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Seizure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LPD — Lateralized Periodic Discharges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14,856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GPD — Generalized Periodic Discharges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LRDA — Lateralized Rhythmic Delta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GRDA — Generalized Rhythmic Delta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annotation quality: 1–7 votes (noisy) or ≥10 votes (reliable, used as HQ subset)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1FF6515-28DF-96AC-21B8-BBC038B97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VIPEEGNet &amp; EfficientNetB0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contrasting baselines, both re-trained on our shared 5-fold patient splits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4023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4023360" cy="5943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VIPEEGNet  ·  ~13M params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npj Digital Medicine, 2025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103120"/>
            <a:ext cx="3566160" cy="310896"/>
          </a:xfrm>
          <a:prstGeom prst="rect">
            <a:avLst/>
          </a:prstGeom>
          <a:solidFill>
            <a:srgbClr val="F4F4F4"/>
          </a:solidFill>
          <a:ln w="635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1031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EEG · 16 ch × 10,000 steps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432304"/>
            <a:ext cx="0" cy="4572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2487168"/>
            <a:ext cx="3566160" cy="310896"/>
          </a:xfrm>
          <a:prstGeom prst="rect">
            <a:avLst/>
          </a:prstGeom>
          <a:solidFill>
            <a:srgbClr val="F4F4F4"/>
          </a:solidFill>
          <a:ln w="635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4871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SumToOne Conv1D → pseudo-image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816352"/>
            <a:ext cx="0" cy="4572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2871216"/>
            <a:ext cx="3566160" cy="310896"/>
          </a:xfrm>
          <a:prstGeom prst="rect">
            <a:avLst/>
          </a:prstGeom>
          <a:solidFill>
            <a:srgbClr val="F4F4F4"/>
          </a:solidFill>
          <a:ln w="635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28712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EfficientNetV2-B3 backbone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3200400"/>
            <a:ext cx="0" cy="4572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3255264"/>
            <a:ext cx="3566160" cy="310896"/>
          </a:xfrm>
          <a:prstGeom prst="rect">
            <a:avLst/>
          </a:prstGeom>
          <a:solidFill>
            <a:srgbClr val="F4F4F4"/>
          </a:solidFill>
          <a:ln w="635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32552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pool → 6-class head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KLD: 0.227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371600"/>
            <a:ext cx="4023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A0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371600"/>
            <a:ext cx="4023360" cy="594360"/>
          </a:xfrm>
          <a:prstGeom prst="rect">
            <a:avLst/>
          </a:prstGeom>
          <a:solidFill>
            <a:srgbClr val="A0612A"/>
          </a:solidFill>
          <a:ln w="12700">
            <a:solidFill>
              <a:srgbClr val="A0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 ·  ~5M params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spectrogram-only baseline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103120"/>
            <a:ext cx="3566160" cy="310896"/>
          </a:xfrm>
          <a:prstGeom prst="rect">
            <a:avLst/>
          </a:prstGeom>
          <a:solidFill>
            <a:srgbClr val="F4F4F4"/>
          </a:solidFill>
          <a:ln w="635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21031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only · 8 ch × 128 × 256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2432304"/>
            <a:ext cx="0" cy="4572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92040" y="2487168"/>
            <a:ext cx="3566160" cy="310896"/>
          </a:xfrm>
          <a:prstGeom prst="rect">
            <a:avLst/>
          </a:prstGeom>
          <a:solidFill>
            <a:srgbClr val="F4F4F4"/>
          </a:solidFill>
          <a:ln w="635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24871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backbone (ImageNet pretrained)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2816352"/>
            <a:ext cx="0" cy="4572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92040" y="2871216"/>
            <a:ext cx="3566160" cy="310896"/>
          </a:xfrm>
          <a:prstGeom prst="rect">
            <a:avLst/>
          </a:prstGeom>
          <a:solidFill>
            <a:srgbClr val="F4F4F4"/>
          </a:solidFill>
          <a:ln w="635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28712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 → 6-class head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75120" y="3200400"/>
            <a:ext cx="0" cy="4572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92040" y="3255264"/>
            <a:ext cx="3566160" cy="310896"/>
          </a:xfrm>
          <a:prstGeom prst="rect">
            <a:avLst/>
          </a:prstGeom>
          <a:solidFill>
            <a:srgbClr val="F4F4F4"/>
          </a:solidFill>
          <a:ln w="635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92040" y="32552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4-epoch training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KLD: 0.673</a:t>
            </a:r>
            <a:endParaRPr lang="en-US" sz="13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A3CA3CD-8A71-64F9-BE2A-1EC064723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KLD on Shared HQ Subset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· 5,939 high-quality EEG-IDs (HQ = ≥10 expert votes) · raw softmax outputs across all models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1390592628"/>
              </p:ext>
            </p:extLst>
          </p:nvPr>
        </p:nvGraphicFramePr>
        <p:xfrm>
          <a:off x="457200" y="1325880"/>
          <a:ext cx="47548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440680" y="1325880"/>
            <a:ext cx="3337560" cy="3246120"/>
          </a:xfrm>
          <a:prstGeom prst="rect">
            <a:avLst/>
          </a:prstGeom>
          <a:solidFill>
            <a:srgbClr val="F4F4F4"/>
          </a:solidFill>
          <a:ln w="635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778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33"/>
                </a:solidFill>
                <a:latin typeface="+mj-lt"/>
                <a:ea typeface="Calibri" pitchFamily="34" charset="-122"/>
                <a:cs typeface="Calibri" pitchFamily="34" charset="-120"/>
              </a:rPr>
              <a:t>Reading the headline</a:t>
            </a:r>
            <a:endParaRPr lang="en-US" sz="1400" dirty="0">
              <a:latin typeface="+mj-l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577840" y="17830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 err="1">
                <a:latin typeface="+mj-lt"/>
              </a:rPr>
              <a:t>VIPEEGNet</a:t>
            </a:r>
            <a:r>
              <a:rPr lang="en-US" sz="1100" dirty="0">
                <a:latin typeface="+mj-lt"/>
              </a:rPr>
              <a:t> wins, and it wins reliably, its number doesn't change much across different patients.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latin typeface="+mj-lt"/>
              </a:rPr>
              <a:t>TCS-Net is meaningfully behind. The gap is big enough that we'd see it on any patient sample.</a:t>
            </a:r>
            <a:br>
              <a:rPr lang="en-US" sz="1100" dirty="0">
                <a:latin typeface="+mj-lt"/>
              </a:rPr>
            </a:br>
            <a:r>
              <a:rPr lang="en-US" sz="1100" dirty="0">
                <a:latin typeface="+mj-lt"/>
              </a:rPr>
              <a:t>Best amongst 5-folds produces KLD of 0.338.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latin typeface="+mj-lt"/>
              </a:rPr>
              <a:t>EfficientNetB0 is both worse and inconsistent on some folds it nearly doubles its own score on others, which is a red flag for clinical deployment regardless of the average.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latin typeface="+mj-lt"/>
              </a:rPr>
              <a:t>KLD doesn't tell you what kinds of mistakes each model makes — and that's where the real story is.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100" dirty="0">
              <a:solidFill>
                <a:srgbClr val="1F1F1F"/>
              </a:solidFill>
              <a:latin typeface="+mj-lt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3EAC14-4B2E-F3BC-D7B2-173F40FB8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89564-DE5B-BC8C-4EC8-9D539A1D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47BD20-2478-0182-9E46-16E2CAFE1FDC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58D2C9-B113-30EC-7FF6-36D7025AD8C1}"/>
              </a:ext>
            </a:extLst>
          </p:cNvPr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600" b="1" dirty="0">
                <a:solidFill>
                  <a:schemeClr val="bg1"/>
                </a:solidFill>
              </a:rPr>
              <a:t>AUROC with statistical evidence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2CB69C-C5EE-3386-AF30-82BA8FF350EF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57301A-CEAA-86C7-B8CB-AA04E7337D08}"/>
              </a:ext>
            </a:extLst>
          </p:cNvPr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E668AF-9BDF-5E13-6D13-2CC2EFB48D81}"/>
              </a:ext>
            </a:extLst>
          </p:cNvPr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4545260-34B7-E1B0-E52E-E5A67B3F858A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3431F3-E334-3A11-F333-E35D4375B473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A80029-6765-BA6F-EF2C-B63C7BB9E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9A01B908-DA4A-3DA6-DB21-5A5FFBE23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269" y="920244"/>
            <a:ext cx="4527081" cy="38803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1806FC-26A7-626B-630F-F4B3B9CAB88D}"/>
              </a:ext>
            </a:extLst>
          </p:cNvPr>
          <p:cNvSpPr txBox="1"/>
          <p:nvPr/>
        </p:nvSpPr>
        <p:spPr>
          <a:xfrm>
            <a:off x="521209" y="1244114"/>
            <a:ext cx="342511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70203"/>
                </a:solidFill>
              </a:rPr>
              <a:t>What AUROC Answers?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922CC5-F719-C4AD-C5E9-25E0EC265E60}"/>
              </a:ext>
            </a:extLst>
          </p:cNvPr>
          <p:cNvSpPr txBox="1"/>
          <p:nvPr/>
        </p:nvSpPr>
        <p:spPr>
          <a:xfrm>
            <a:off x="1429473" y="1776714"/>
            <a:ext cx="63197" cy="24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3C0940-6A1A-EDB8-38EB-EECFF4DEC221}"/>
              </a:ext>
            </a:extLst>
          </p:cNvPr>
          <p:cNvSpPr txBox="1"/>
          <p:nvPr/>
        </p:nvSpPr>
        <p:spPr>
          <a:xfrm>
            <a:off x="521208" y="1551891"/>
            <a:ext cx="3425111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F1B2D"/>
                </a:solidFill>
              </a:rPr>
              <a:t>If I randomly pick one real seizure and one non-seizure, what's the chance the model scores the seizure higher?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28B2D4-A144-19D5-A81B-62706A744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467" y="2522887"/>
            <a:ext cx="2553328" cy="12296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19E553-789B-F23A-66DC-33A96AEABD37}"/>
              </a:ext>
            </a:extLst>
          </p:cNvPr>
          <p:cNvSpPr txBox="1"/>
          <p:nvPr/>
        </p:nvSpPr>
        <p:spPr>
          <a:xfrm>
            <a:off x="888467" y="2249335"/>
            <a:ext cx="2553328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Per-Modal AUROC (With 95% CI)</a:t>
            </a:r>
          </a:p>
        </p:txBody>
      </p:sp>
    </p:spTree>
    <p:extLst>
      <p:ext uri="{BB962C8B-B14F-4D97-AF65-F5344CB8AC3E}">
        <p14:creationId xmlns:p14="http://schemas.microsoft.com/office/powerpoint/2010/main" val="4115088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44737-D0DB-08F4-B768-94A9AC2E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BC9F69-7B92-54E8-0470-295E4086006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26F4FE-4232-1242-CFBA-D9277A56ADCC}"/>
              </a:ext>
            </a:extLst>
          </p:cNvPr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</a:rPr>
              <a:t>AUPRC reveals the precision gap AUROC dilutes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7495C54-511F-28AA-B101-4EFB5048C477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84BB33-FB80-EACC-420D-682A1893525B}"/>
              </a:ext>
            </a:extLst>
          </p:cNvPr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14FAE3-D748-28E2-BDD9-C0900D88B97C}"/>
              </a:ext>
            </a:extLst>
          </p:cNvPr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ADB0EC5-12BE-6446-34B4-7E28759B5A54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5F3456-B17D-FAF8-AD3D-6EE27DEC5275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9985FE-7F2F-ACD6-ABD6-823CECF08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B95A63-2BBD-1EFA-EF18-54590B4FF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501" y="938302"/>
            <a:ext cx="4692531" cy="351939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247D77F-1BE6-BB12-F83D-FFF397E0A67B}"/>
              </a:ext>
            </a:extLst>
          </p:cNvPr>
          <p:cNvSpPr txBox="1"/>
          <p:nvPr/>
        </p:nvSpPr>
        <p:spPr>
          <a:xfrm>
            <a:off x="521208" y="1819888"/>
            <a:ext cx="3113242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rgbClr val="0F1B2D"/>
                </a:solidFill>
                <a:latin typeface="+mj-lt"/>
                <a:ea typeface="Calibri" pitchFamily="34" charset="-122"/>
                <a:cs typeface="Calibri" pitchFamily="34" charset="-120"/>
              </a:rPr>
              <a:t>ROC averages over all False Positive(FP) rates, including high-FP regions where the curves crowd into the top-right corner. Precision-recall lives in the regime where false alarms actually hurt, and that's where the differences open up.</a:t>
            </a:r>
            <a:endParaRPr lang="en-US" sz="1200" dirty="0">
              <a:latin typeface="+mj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98C48B-76A5-F153-173D-03675DBE94EC}"/>
              </a:ext>
            </a:extLst>
          </p:cNvPr>
          <p:cNvSpPr txBox="1"/>
          <p:nvPr/>
        </p:nvSpPr>
        <p:spPr>
          <a:xfrm>
            <a:off x="521207" y="1542889"/>
            <a:ext cx="3113243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70203"/>
                </a:solidFill>
                <a:latin typeface="+mj-lt"/>
                <a:ea typeface="Cambria" pitchFamily="34" charset="-122"/>
                <a:cs typeface="Cambria" pitchFamily="34" charset="-120"/>
              </a:rPr>
              <a:t>Why the gap looks bigger here than on the ROC?</a:t>
            </a:r>
            <a:endParaRPr lang="en-US" sz="1200" dirty="0">
              <a:solidFill>
                <a:srgbClr val="E70203"/>
              </a:solidFill>
              <a:latin typeface="+mj-lt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35FAC84-8E0D-B8CB-7EFB-93C13BFF1D9E}"/>
              </a:ext>
            </a:extLst>
          </p:cNvPr>
          <p:cNvSpPr/>
          <p:nvPr/>
        </p:nvSpPr>
        <p:spPr>
          <a:xfrm>
            <a:off x="3722360" y="4457700"/>
            <a:ext cx="5228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positive prevalence floor (0.059). Every model is well above floor; the ranking gap is real.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8A3D9CC-1A1E-C8FB-48FA-F1C466CC4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68" y="3099886"/>
            <a:ext cx="3228179" cy="65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99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6A936-B3F7-E1CC-0CEF-3CCF2FA4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336B31-DB64-FC8A-A886-542DC792E62C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407821-71BD-3BEE-73ED-8CC274F3DD84}"/>
              </a:ext>
            </a:extLst>
          </p:cNvPr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Operating Point Cost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4E233F-0295-8CE7-6709-8B837660E4D8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B5411C-408D-D086-7AFF-E71AA719A75E}"/>
              </a:ext>
            </a:extLst>
          </p:cNvPr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CD5650-E113-14D2-1088-77FA0F1D8028}"/>
              </a:ext>
            </a:extLst>
          </p:cNvPr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6BB109D-9E8C-E307-79F9-4CC07C7C7DEE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DE96033-0304-14D5-1F82-45FF0A47B663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0BF77E-9B4D-D148-F519-3B8322BAD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E820D4-F9BF-8421-951D-2F815CD41E21}"/>
              </a:ext>
            </a:extLst>
          </p:cNvPr>
          <p:cNvSpPr txBox="1"/>
          <p:nvPr/>
        </p:nvSpPr>
        <p:spPr>
          <a:xfrm>
            <a:off x="871258" y="4233932"/>
            <a:ext cx="7673135" cy="530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 Recall 0.95: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+mj-lt"/>
                <a:ea typeface="Calibri" pitchFamily="34" charset="-122"/>
                <a:cs typeface="Calibri" pitchFamily="34" charset="-120"/>
              </a:rPr>
              <a:t>VIPEEGNet</a:t>
            </a:r>
            <a:r>
              <a:rPr lang="en-US" sz="1000" dirty="0">
                <a:latin typeface="+mj-lt"/>
                <a:ea typeface="Calibri" pitchFamily="34" charset="-122"/>
                <a:cs typeface="Calibri" pitchFamily="34" charset="-120"/>
              </a:rPr>
              <a:t> flags 1,619 false alarms vs 2,263 (EffNetB0) and 2,675 (</a:t>
            </a:r>
            <a:r>
              <a:rPr lang="en-US" sz="1000" dirty="0" err="1">
                <a:latin typeface="+mj-lt"/>
                <a:ea typeface="Calibri" pitchFamily="34" charset="-122"/>
                <a:cs typeface="Calibri" pitchFamily="34" charset="-120"/>
              </a:rPr>
              <a:t>TCSNet</a:t>
            </a:r>
            <a:r>
              <a:rPr lang="en-US" sz="1000" dirty="0">
                <a:latin typeface="+mj-lt"/>
                <a:ea typeface="Calibri" pitchFamily="34" charset="-122"/>
                <a:cs typeface="Calibri" pitchFamily="34" charset="-120"/>
              </a:rPr>
              <a:t>): every model misses 17 of 348 seizures.</a:t>
            </a:r>
            <a:endParaRPr lang="en-US" sz="1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000" b="1" dirty="0"/>
              <a:t>At Recall 0.99</a:t>
            </a:r>
            <a:r>
              <a:rPr lang="en-US" sz="1000" dirty="0"/>
              <a:t>:  </a:t>
            </a:r>
            <a:r>
              <a:rPr lang="en-US" sz="1000" dirty="0">
                <a:latin typeface="+mj-lt"/>
                <a:ea typeface="Calibri" pitchFamily="34" charset="-122"/>
                <a:cs typeface="Calibri" pitchFamily="34" charset="-120"/>
              </a:rPr>
              <a:t>EffNetB0 wins: 2,998 FP vs 3,828 (VIP) and 4,505 (TCS). Its hardest seizures are scored less catastrophically low than </a:t>
            </a:r>
            <a:r>
              <a:rPr lang="en-US" sz="1000" dirty="0" err="1">
                <a:latin typeface="+mj-lt"/>
                <a:ea typeface="Calibri" pitchFamily="34" charset="-122"/>
                <a:cs typeface="Calibri" pitchFamily="34" charset="-120"/>
              </a:rPr>
              <a:t>VIPEEGNet's</a:t>
            </a:r>
            <a:r>
              <a:rPr lang="en-US" sz="1000" dirty="0"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latin typeface="+mj-lt"/>
            </a:endParaRPr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9339C818-A709-8DDC-C068-E89921477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967674"/>
              </p:ext>
            </p:extLst>
          </p:nvPr>
        </p:nvGraphicFramePr>
        <p:xfrm>
          <a:off x="1115568" y="929630"/>
          <a:ext cx="6983043" cy="3158770"/>
        </p:xfrm>
        <a:graphic>
          <a:graphicData uri="http://schemas.openxmlformats.org/drawingml/2006/table">
            <a:tbl>
              <a:tblPr/>
              <a:tblGrid>
                <a:gridCol w="64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4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2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88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72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15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EffNetB0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VIPEEGNet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EffNetB0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VIPEEGNet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EffNetB0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VIPEEGNet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417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7E31E-D6FB-1B2B-4B1F-08EB24D0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99A968-0199-134C-5F41-79C2ABE7621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FFA368-C44A-D115-7068-7C7E6E69DC61}"/>
              </a:ext>
            </a:extLst>
          </p:cNvPr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</a:rPr>
              <a:t>Recall VS Alert Burden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F36CC1C-A174-6732-C794-462465F7ED12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72CEB2-8DB3-092A-CDD8-B181F0FD32ED}"/>
              </a:ext>
            </a:extLst>
          </p:cNvPr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F1018D-0C74-84E5-B1AD-FFB4979ED9EB}"/>
              </a:ext>
            </a:extLst>
          </p:cNvPr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B253B7F-4FD5-3FF5-A657-0FD1C7DA6851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3A69725-D147-0601-4FCA-451A86D92938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054BBC-5E5C-A983-F7AF-FAFA886F8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  <p:pic>
        <p:nvPicPr>
          <p:cNvPr id="15" name="Image 0" descr="figures/fig05_recall_pinned_bars.png">
            <a:extLst>
              <a:ext uri="{FF2B5EF4-FFF2-40B4-BE49-F238E27FC236}">
                <a16:creationId xmlns:a16="http://schemas.microsoft.com/office/drawing/2014/main" id="{2D2FCB53-22E2-61D3-A8DF-1AF8DE2EE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863160"/>
            <a:ext cx="7772400" cy="3238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05B526-7FB2-1619-8717-E86522968CE0}"/>
              </a:ext>
            </a:extLst>
          </p:cNvPr>
          <p:cNvSpPr txBox="1"/>
          <p:nvPr/>
        </p:nvSpPr>
        <p:spPr>
          <a:xfrm>
            <a:off x="1166446" y="4417466"/>
            <a:ext cx="6950728" cy="3613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95 % to 99 % recall is not a free 4 % - it almost doubles the alert burden for every model.       </a:t>
            </a:r>
            <a:endParaRPr 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365C29-CBF8-AAF5-534A-AC19CD4F2EC0}"/>
              </a:ext>
            </a:extLst>
          </p:cNvPr>
          <p:cNvSpPr txBox="1"/>
          <p:nvPr/>
        </p:nvSpPr>
        <p:spPr>
          <a:xfrm>
            <a:off x="3113239" y="4171245"/>
            <a:ext cx="45688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EffNetB0 </a:t>
            </a: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+735  (+32 %)</a:t>
            </a:r>
            <a:r>
              <a:rPr lang="en-US" sz="1000" dirty="0"/>
              <a:t>         </a:t>
            </a:r>
            <a:r>
              <a:rPr lang="en-US" sz="1000" b="1" dirty="0" err="1">
                <a:solidFill>
                  <a:srgbClr val="E07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TCSNet</a:t>
            </a:r>
            <a:r>
              <a:rPr lang="en-US" sz="1000" b="1" dirty="0">
                <a:solidFill>
                  <a:srgbClr val="E07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+1,830  (+68 %)</a:t>
            </a:r>
            <a:r>
              <a:rPr lang="en-US" sz="1000" dirty="0"/>
              <a:t>       </a:t>
            </a:r>
            <a:r>
              <a:rPr lang="en-US" sz="1000" b="1" dirty="0" err="1">
                <a:solidFill>
                  <a:srgbClr val="2A9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VIPEEGNet</a:t>
            </a:r>
            <a:r>
              <a:rPr lang="en-US" sz="1000" b="1" dirty="0">
                <a:solidFill>
                  <a:srgbClr val="2A9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+2,209  (+136 %)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9A5403-3050-45E8-3EF5-A26240F5AB4E}"/>
              </a:ext>
            </a:extLst>
          </p:cNvPr>
          <p:cNvSpPr txBox="1"/>
          <p:nvPr/>
        </p:nvSpPr>
        <p:spPr>
          <a:xfrm>
            <a:off x="1461882" y="4171245"/>
            <a:ext cx="1704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FA Increase, R 0.95 -&gt; 0.99.  :</a:t>
            </a:r>
          </a:p>
        </p:txBody>
      </p:sp>
    </p:spTree>
    <p:extLst>
      <p:ext uri="{BB962C8B-B14F-4D97-AF65-F5344CB8AC3E}">
        <p14:creationId xmlns:p14="http://schemas.microsoft.com/office/powerpoint/2010/main" val="185621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65971-8378-6C91-EA1D-87065B1C6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D9B0ED-E1F6-CD2A-9CC0-5A7139E8574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687D25-3572-2921-BD62-EF80E8B34C50}"/>
              </a:ext>
            </a:extLst>
          </p:cNvPr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</a:rPr>
              <a:t>Calibration: Are the probabilities trustworthy? 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FE917D-9E83-FAB2-48E4-FC7F7EE0BF3D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A83379-3D6D-1389-20F4-5FE7E426DA7D}"/>
              </a:ext>
            </a:extLst>
          </p:cNvPr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6E586F-18AE-06F7-BEB3-F05C19349CFB}"/>
              </a:ext>
            </a:extLst>
          </p:cNvPr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DCA488A-55ED-85CB-DC48-5B05D0C71A9F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DBD9903-C465-5AF7-1B7F-E70C66B2CAB9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CFA7C5-D632-B508-4253-868E6082F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  <p:pic>
        <p:nvPicPr>
          <p:cNvPr id="10" name="Image 0" descr="figures/02_reliability_grid.png">
            <a:extLst>
              <a:ext uri="{FF2B5EF4-FFF2-40B4-BE49-F238E27FC236}">
                <a16:creationId xmlns:a16="http://schemas.microsoft.com/office/drawing/2014/main" id="{309A58C4-F7AF-8CA3-810E-E0BF45608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815" y="832104"/>
            <a:ext cx="5721721" cy="37544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A24E43-8C13-CDE3-765D-0173317F7603}"/>
              </a:ext>
            </a:extLst>
          </p:cNvPr>
          <p:cNvSpPr txBox="1"/>
          <p:nvPr/>
        </p:nvSpPr>
        <p:spPr>
          <a:xfrm>
            <a:off x="365760" y="1988458"/>
            <a:ext cx="2422410" cy="19543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100" dirty="0" err="1">
                <a:latin typeface="+mj-lt"/>
              </a:rPr>
              <a:t>TCSNet</a:t>
            </a:r>
            <a:r>
              <a:rPr lang="en-US" sz="1100" dirty="0">
                <a:latin typeface="+mj-lt"/>
              </a:rPr>
              <a:t> and </a:t>
            </a:r>
            <a:r>
              <a:rPr lang="en-US" sz="1100" dirty="0" err="1">
                <a:latin typeface="+mj-lt"/>
              </a:rPr>
              <a:t>VIPEEGNet</a:t>
            </a:r>
            <a:r>
              <a:rPr lang="en-US" sz="1100" dirty="0">
                <a:latin typeface="+mj-lt"/>
              </a:rPr>
              <a:t> are already well-calibrated raw, their probabilities can be trusted as-is, and post-hoc calibration adds little. EffNetB0 is severely </a:t>
            </a:r>
            <a:r>
              <a:rPr lang="en-US" sz="1100" dirty="0" err="1">
                <a:latin typeface="+mj-lt"/>
              </a:rPr>
              <a:t>miscalibrated</a:t>
            </a:r>
            <a:r>
              <a:rPr lang="en-US" sz="1100" dirty="0">
                <a:latin typeface="+mj-lt"/>
              </a:rPr>
              <a:t> raw (ECE 0.123) due to a curved, non-uniform overconfidence pattern. Platt scaling fixes it (ECE 0.017, a 7.2× reduction); temperature scaling does not (ECE 0.128) because a single scalar cannot reshape a curve.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B7D427-62B4-44C4-797C-EEEA655FBB83}"/>
              </a:ext>
            </a:extLst>
          </p:cNvPr>
          <p:cNvSpPr txBox="1"/>
          <p:nvPr/>
        </p:nvSpPr>
        <p:spPr>
          <a:xfrm>
            <a:off x="374904" y="1649025"/>
            <a:ext cx="241326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Insight</a:t>
            </a:r>
          </a:p>
        </p:txBody>
      </p:sp>
    </p:spTree>
    <p:extLst>
      <p:ext uri="{BB962C8B-B14F-4D97-AF65-F5344CB8AC3E}">
        <p14:creationId xmlns:p14="http://schemas.microsoft.com/office/powerpoint/2010/main" val="122778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716DC-8FB5-24D9-A178-9EFA323F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737166-79F8-FE40-5841-AC1403C8D4F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1BE1E5-D36C-7603-C28C-F8A1934F2023}"/>
              </a:ext>
            </a:extLst>
          </p:cNvPr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The Stability Pillar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80A7ED2-D8CD-64C7-0682-A5B2DC23708B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8C1269F-7AA2-5FCA-D0CD-B87466105CA1}"/>
              </a:ext>
            </a:extLst>
          </p:cNvPr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097A78-3E74-4E10-56B3-A0F54D400057}"/>
              </a:ext>
            </a:extLst>
          </p:cNvPr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EC4061C-DCF6-3897-4EB8-39B662F1109A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4A47AA5-C7C5-F73C-9BB0-FB694446DCED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C2D068-2282-1C9F-A807-159202D5D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  <p:pic>
        <p:nvPicPr>
          <p:cNvPr id="9" name="Image 0" descr="figures/fig07_threshold_drift.png">
            <a:extLst>
              <a:ext uri="{FF2B5EF4-FFF2-40B4-BE49-F238E27FC236}">
                <a16:creationId xmlns:a16="http://schemas.microsoft.com/office/drawing/2014/main" id="{5C5D297F-40A5-458C-F846-6CA2F5DEF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180" y="1293013"/>
            <a:ext cx="4271454" cy="26696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474051-EF9B-41A4-F6E3-DF443ACB7073}"/>
              </a:ext>
            </a:extLst>
          </p:cNvPr>
          <p:cNvSpPr txBox="1"/>
          <p:nvPr/>
        </p:nvSpPr>
        <p:spPr>
          <a:xfrm>
            <a:off x="5096142" y="4175148"/>
            <a:ext cx="36820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</a:t>
            </a:r>
            <a:r>
              <a:rPr lang="en-US" sz="1000" i="1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log scale. Tighter clusters = more stable across cohorts.</a:t>
            </a:r>
            <a:endParaRPr lang="en-US" sz="1000" dirty="0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8F9E3984-1D9B-9596-2522-8AC1A4AFF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766841"/>
              </p:ext>
            </p:extLst>
          </p:nvPr>
        </p:nvGraphicFramePr>
        <p:xfrm>
          <a:off x="460175" y="1166968"/>
          <a:ext cx="3560488" cy="1412790"/>
        </p:xfrm>
        <a:graphic>
          <a:graphicData uri="http://schemas.openxmlformats.org/drawingml/2006/table">
            <a:tbl>
              <a:tblPr/>
              <a:tblGrid>
                <a:gridCol w="873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8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± std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/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EffNetB0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 ± 0.058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7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 ± 0.003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7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A9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VIPEEGNet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 ± 0.014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7F877EE-2A05-B2BD-7CA9-49957AE8FC91}"/>
              </a:ext>
            </a:extLst>
          </p:cNvPr>
          <p:cNvSpPr txBox="1"/>
          <p:nvPr/>
        </p:nvSpPr>
        <p:spPr>
          <a:xfrm>
            <a:off x="417539" y="2780701"/>
            <a:ext cx="36457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solidFill>
                  <a:srgbClr val="E07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TCSNet</a:t>
            </a:r>
            <a:r>
              <a:rPr lang="en-US" sz="1000" b="1" dirty="0">
                <a:solidFill>
                  <a:srgbClr val="E07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wins on stability. </a:t>
            </a: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 = 0.95 threshold barely moves fold-to-fold, a 1.6× spread is the closest thing to "calibrate once, ship" in this cohort.</a:t>
            </a:r>
            <a:b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 dirty="0"/>
          </a:p>
          <a:p>
            <a:r>
              <a:rPr lang="en-US" sz="1000" b="1" dirty="0" err="1">
                <a:solidFill>
                  <a:srgbClr val="2A9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VIPEEGNet</a:t>
            </a:r>
            <a:r>
              <a:rPr lang="en-US" sz="1000" b="1" dirty="0">
                <a:solidFill>
                  <a:srgbClr val="2A9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strongest population AUC but the worst drift. </a:t>
            </a: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score distribution shifts fold-to-fold even when the ranking is good, a fixed central </a:t>
            </a:r>
            <a:r>
              <a:rPr lang="en-US" sz="1000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over- or under-fire by 13× depending on the cohort.</a:t>
            </a:r>
            <a:b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 dirty="0"/>
          </a:p>
          <a:p>
            <a:r>
              <a:rPr lang="en-US" sz="10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EffNetB0 sits in the middle (4.9×). </a:t>
            </a: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 with light per-cohort recalibration.</a:t>
            </a: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09477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BEF1B-7DC0-1DDC-4CC5-02AC33B8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419AFC-17F2-9D8E-93E4-F95506ECEF4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EAF41A-FEDC-105E-A263-A9104C54CE54}"/>
              </a:ext>
            </a:extLst>
          </p:cNvPr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Hard misses by threshold: True seizures the model failed to flag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9990F0-A582-4B90-53F8-0AF7EB2DEF35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F8F3B1-D1C4-5B2F-A913-257250FE5A82}"/>
              </a:ext>
            </a:extLst>
          </p:cNvPr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B74A33-7AAF-571B-B92D-C476873E0F09}"/>
              </a:ext>
            </a:extLst>
          </p:cNvPr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B739C10-9755-0597-89B5-D4FF19B697C0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1ECCEE-3F54-BED0-9ADE-2AE59295C0DF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AD0AFD-C03C-8B4F-61C0-8E7162BA8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37BE0C-67BB-8C03-19CB-8248F3A5F407}"/>
              </a:ext>
            </a:extLst>
          </p:cNvPr>
          <p:cNvSpPr txBox="1"/>
          <p:nvPr/>
        </p:nvSpPr>
        <p:spPr>
          <a:xfrm>
            <a:off x="1446646" y="4214590"/>
            <a:ext cx="6910970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F1B2D"/>
                </a:solidFill>
              </a:rPr>
              <a:t>A hard miss is a true seizure the model scored BELOW the decision threshold </a:t>
            </a:r>
            <a:r>
              <a:rPr lang="el-GR" sz="1100" dirty="0">
                <a:solidFill>
                  <a:srgbClr val="0F1B2D"/>
                </a:solidFill>
              </a:rPr>
              <a:t>τ</a:t>
            </a:r>
            <a:r>
              <a:rPr lang="en-US" sz="1100" dirty="0">
                <a:solidFill>
                  <a:srgbClr val="0F1B2D"/>
                </a:solidFill>
              </a:rPr>
              <a:t>,</a:t>
            </a:r>
            <a:r>
              <a:rPr lang="el-GR" sz="1100" dirty="0">
                <a:solidFill>
                  <a:srgbClr val="0F1B2D"/>
                </a:solidFill>
              </a:rPr>
              <a:t> </a:t>
            </a:r>
            <a:r>
              <a:rPr lang="en-US" sz="1100" dirty="0">
                <a:solidFill>
                  <a:srgbClr val="0F1B2D"/>
                </a:solidFill>
              </a:rPr>
              <a:t>a real seizure that went unflagged. </a:t>
            </a:r>
          </a:p>
          <a:p>
            <a:r>
              <a:rPr lang="en-US" sz="1100" dirty="0">
                <a:solidFill>
                  <a:srgbClr val="0F1B2D"/>
                </a:solidFill>
              </a:rPr>
              <a:t>TCS-Net performed worst amongst all the three modal here, followed by </a:t>
            </a:r>
            <a:r>
              <a:rPr lang="en-US" sz="1100" dirty="0" err="1">
                <a:solidFill>
                  <a:srgbClr val="0F1B2D"/>
                </a:solidFill>
              </a:rPr>
              <a:t>VipeegNet</a:t>
            </a:r>
            <a:r>
              <a:rPr lang="en-US" sz="1100" dirty="0">
                <a:solidFill>
                  <a:srgbClr val="0F1B2D"/>
                </a:solidFill>
              </a:rPr>
              <a:t>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62C51C-C51C-1592-F2E4-9A3A2191A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04" y="795528"/>
            <a:ext cx="8378832" cy="329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02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00F85-2778-FD7C-1B82-D2FEBDB4A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952663-A810-306E-A7E5-27764679E84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C05C4C-EB1D-A8E6-E6C5-ADCB30F955A0}"/>
              </a:ext>
            </a:extLst>
          </p:cNvPr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Performance on ambiguous cases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DDA60D-C454-DBE6-9507-81CF2DA04F3F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838B43-CCD0-48BE-B685-64FDF9515C49}"/>
              </a:ext>
            </a:extLst>
          </p:cNvPr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8DDBF2A-19CB-6C95-A37C-6BBCCE850123}"/>
              </a:ext>
            </a:extLst>
          </p:cNvPr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D34D34C-FB58-84B6-FDCC-3A9690F1A12C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B7FCA3-F02D-7CCE-D803-7FCD061628A6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CBEDC8-ADDD-A7C2-7B74-AD39A9437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  <p:pic>
        <p:nvPicPr>
          <p:cNvPr id="10" name="Image 0" descr="figures/03_vote_share_missed.png">
            <a:extLst>
              <a:ext uri="{FF2B5EF4-FFF2-40B4-BE49-F238E27FC236}">
                <a16:creationId xmlns:a16="http://schemas.microsoft.com/office/drawing/2014/main" id="{9B523826-F407-EC5F-6B59-D2C290D53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23" y="1000834"/>
            <a:ext cx="7680960" cy="2400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FA4E9D-F521-5352-7C26-FBC111D34870}"/>
              </a:ext>
            </a:extLst>
          </p:cNvPr>
          <p:cNvSpPr txBox="1"/>
          <p:nvPr/>
        </p:nvSpPr>
        <p:spPr>
          <a:xfrm>
            <a:off x="906905" y="3701303"/>
            <a:ext cx="7471578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reassuring failure pattern, clean seizures are caught reliably; difficult, ambiguous ones are missed with the experts' own uncertainty as a covariate. The models are not failing arbitrarily; they are tracking the underlying difficulty of the label distribution. A clinical AI failing on cases experts could not agree on is a fundamentally different (and more acceptable) failure than one missing clear seizures.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03590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EC0E7-A87D-40BC-01D1-E2014EF7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F3E9FA-87A6-F467-B696-6B9F5BF10E9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CF705A-EDBE-ED18-83DE-BE6B35EB2BDE}"/>
              </a:ext>
            </a:extLst>
          </p:cNvPr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</a:rPr>
              <a:t>Verdict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8EAA94-2771-6BAA-4850-0E70B5BD1814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B6C0CC-FE5A-4B32-70D2-59D597B237BE}"/>
              </a:ext>
            </a:extLst>
          </p:cNvPr>
          <p:cNvSpPr/>
          <p:nvPr/>
        </p:nvSpPr>
        <p:spPr>
          <a:xfrm>
            <a:off x="228600" y="4864608"/>
            <a:ext cx="29260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1AC93C-1A5A-7FB6-448E-72CB58CCFE9B}"/>
              </a:ext>
            </a:extLst>
          </p:cNvPr>
          <p:cNvSpPr/>
          <p:nvPr/>
        </p:nvSpPr>
        <p:spPr>
          <a:xfrm>
            <a:off x="566928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0C8963F-43F2-9207-697C-32AC6DC83E59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DCBDECA-82D8-DAD6-7433-8D2F5BBEC94B}"/>
              </a:ext>
            </a:extLst>
          </p:cNvPr>
          <p:cNvSpPr/>
          <p:nvPr/>
        </p:nvSpPr>
        <p:spPr>
          <a:xfrm>
            <a:off x="8641080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CD459D-4C73-D683-726F-D156F7DD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849914"/>
            <a:ext cx="937846" cy="28999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DE5CFB5-6A79-BECA-AC56-919EBB1F9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478488"/>
            <a:ext cx="7899953" cy="30389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96247E2-E1DB-ED09-F573-28001BB9B66D}"/>
              </a:ext>
            </a:extLst>
          </p:cNvPr>
          <p:cNvSpPr txBox="1"/>
          <p:nvPr/>
        </p:nvSpPr>
        <p:spPr>
          <a:xfrm>
            <a:off x="521208" y="1106129"/>
            <a:ext cx="628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wins a different deployment scenario. The decision is not technical — it is institutional.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07147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C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2743200" y="2926080"/>
            <a:ext cx="36576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Gagandeep Singh  ·  Master's Project  ·  Spring 2026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E4833C-555F-DC5B-ED1B-0D5BEEB3D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9283"/>
            <a:ext cx="1888709" cy="6167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8175</TotalTime>
  <Words>1427</Words>
  <Application>Microsoft Macintosh PowerPoint</Application>
  <PresentationFormat>On-screen Show (16:9)</PresentationFormat>
  <Paragraphs>311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EEG Screening — TCS-Net Final Presentation</dc:title>
  <dc:subject>PptxGenJS Presentation</dc:subject>
  <dc:creator>Gagandeep Singh</dc:creator>
  <cp:lastModifiedBy>Gagandeep Singh</cp:lastModifiedBy>
  <cp:revision>26</cp:revision>
  <cp:lastPrinted>2026-05-04T02:18:15Z</cp:lastPrinted>
  <dcterms:created xsi:type="dcterms:W3CDTF">2026-05-01T06:24:05Z</dcterms:created>
  <dcterms:modified xsi:type="dcterms:W3CDTF">2026-05-07T09:17:27Z</dcterms:modified>
</cp:coreProperties>
</file>